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5861555-83da-8362-6e8d-75c8432a80d9}">
          <p14:sldIdLst>
            <p14:sldId id="256"/>
            <p14:sldId id="257"/>
          </p14:sldIdLst>
        </p14:section>
        <p14:section name="Approach" id="{567881e5-262e-93ce-c8f9-2467261ed560}">
          <p14:sldIdLst>
            <p14:sldId id="258"/>
            <p14:sldId id="259"/>
            <p14:sldId id="260"/>
            <p14:sldId id="261"/>
          </p14:sldIdLst>
        </p14:section>
        <p14:section name="Advanced RAG" id="{3665a22f-0ae9-2cee-1fc5-059e1e30e9f6}">
          <p14:sldIdLst>
            <p14:sldId id="262"/>
            <p14:sldId id="263"/>
          </p14:sldIdLst>
        </p14:section>
        <p14:section name="Production" id="{314ebbe4-8089-ab5a-5ffe-5522853b8891}">
          <p14:sldIdLst>
            <p14:sldId id="264"/>
            <p14:sldId id="265"/>
          </p14:sldIdLst>
        </p14:section>
        <p14:section name="Results" id="{25b11d2f-c5a2-81b8-1c08-082a67ac3fb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(Kevin Costner) and the project: a retrieval-augmented chatbot that answers general cancer questions using only NIH Cancer.gov content, with sources and safe refusals. The screenshot is the live React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unreliable, scattered cancer information and chatbots that hallucinate without sources. Solution: ground every answer in NIH Cancer.gov (MedQuAD CancerGov subset: 729 Q-A pairs, 98 topics, 6,452 chunks), show sources, refuse out-of-scope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shows the LangChain building blocks: LCEL chain, RunnableLambda input cleaning, ChatPromptTemplate, ChatGroq, PydanticOutputParser. In evaluation V1 scored 82% answer accuracy and refused only 3 of 5 out-of-scope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Indexing (offline): load NIH Q-A pairs, split into 500-character chunks with 75 overlap, embed with MiniLM, store in a vector store. Query time: the retriever returns the top 5 chunks above a 0.45 cosine threshold (otherwise refuse), and the LLM answers from those chunks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 from V1: answers are grounded in retrieved NIH text, sources are shown, and all 5 off-topic questions are refused thanks to the similarity threshold. Accuracy rose from 82% to 86% for about 0.3 s more latency. Downsides: FAISS is only a similarity-search library and is awkward to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V3 swaps FAISS for ChromaDB. Retrieval scores are identical (hit@5 96%, MRR 0.820) because embeddings and chunks are the same. The difference is data management: persistent storage, metadata kept with each vector, metadata filters such as doc_type='treatment', and single-record updates and deletes.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V4 is two-stage retrieval: a fast bi-encoder search narrows to 20 candidates, then a cross-encoder rereads question and chunk together and keeps the best 5. On the dev set MRR rose from 0.919 to 0.988. On the 22-question test set precision@5 improved from 53% to 56% and there were no wrong answers, although test-set MRR dropped (0.820 to 0.744), so we report both. V4 powers the deployed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metadata stored in Chroma (source, doc_type, topic, page) is what the UI shows on each source card, and Chroma supports filtering on it, for example doc_type='treatment'. The relevance threshold is the guardrail that produces safe refusals.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React front end calls the FastAPI backend. The backend runs the V4 chain: Chroma retrieval, local cross-encoder reranking, and generation on Groq. Every chat with its scores is stored in SQLite. Setup is one command; then the API and web app run in two terminals.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Monitoring has four layers: live RAGAS scores per answer, persistent chat history in SQLite, optional LangSmith tracing of every chain step, and per-stage timings returned with each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adds sources and safe refusals (5/5 vs 3/5) and lifts accuracy. V4 has the best precision and BERTScore and no wrong answers; V2/V3 edge it on judge accuracy (86% vs 84%) and MRR on this small test set. Response times include the Groq API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a working V4 app with grounded answers, citations, refusals, live RAGAS scores and history. Next: hybrid search, intent-driven metadata filters, cloud deployment, a wider knowledge base, conversation memory and a user feedback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58521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Health FAQ RAG Chatbot  ·  Kevin Costner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WIL PROJECT  ·  TEST-DRIVEN RAG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Health FAQ RAG Chatbot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Trusted cancer answers grounded in NIH Cancer.gov, built step by step from V1 to V4 with LangChain</a:t>
            </a:r>
            <a:endParaRPr lang="en-US" sz="1800" dirty="0"/>
          </a:p>
        </p:txBody>
      </p:sp>
      <p:sp>
        <p:nvSpPr>
          <p:cNvPr id="5" name="icon-circle-FiUser"/>
          <p:cNvSpPr/>
          <p:nvPr/>
        </p:nvSpPr>
        <p:spPr>
          <a:xfrm>
            <a:off x="548640" y="4983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Fi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51435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49560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Presented by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Kevin Costner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October 2026</a:t>
            </a:r>
            <a:endParaRPr lang="en-US" sz="1200" dirty="0"/>
          </a:p>
        </p:txBody>
      </p:sp>
      <p:sp>
        <p:nvSpPr>
          <p:cNvPr id="9" name="screenshot-frame"/>
          <p:cNvSpPr/>
          <p:nvPr/>
        </p:nvSpPr>
        <p:spPr>
          <a:xfrm>
            <a:off x="6739128" y="1709928"/>
            <a:ext cx="4992624" cy="3040634"/>
          </a:xfrm>
          <a:prstGeom prst="roundRect">
            <a:avLst>
              <a:gd name="adj" fmla="val 300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4F75">
                <a:alpha val="12000"/>
              </a:srgbClr>
            </a:outerShdw>
          </a:effectLst>
        </p:spPr>
      </p:sp>
      <p:pic>
        <p:nvPicPr>
          <p:cNvPr id="10" name="screenshot-input.png" descr="/Users/kevincostner/Desktop/Health_FAQ_Rag/docs/presentation/screenshots/inp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783080"/>
            <a:ext cx="4846320" cy="2894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 and proposed solution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4" name="icon-circle-FiAlertTriangle"/>
          <p:cNvSpPr/>
          <p:nvPr/>
        </p:nvSpPr>
        <p:spPr>
          <a:xfrm>
            <a:off x="868680" y="16002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con-FiAlertTriang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7487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2316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Cancer information online is scattered across many sites and varies in quality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General chatbots can invent medical facts and give no sources to check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Patients and carers cannot tell which answers to trust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Off-topic or risky questions (e.g. drug dosages) get answered anyway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78728" y="13258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9" name="icon-circle-FiCheckCircle"/>
          <p:cNvSpPr/>
          <p:nvPr/>
        </p:nvSpPr>
        <p:spPr>
          <a:xfrm>
            <a:off x="6598768" y="16002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-FiCheckCirc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358" y="174879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Proposed solution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42316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RAG chatbot that answers only from NIH Cancer.gov content (MedQuAD)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answer cites the NIH pages it came from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Questions outside the knowledge base get a safe refusal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Built in four LangChain versions (V1 to V4), each one measured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166360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729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733288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NIH question-answer pairs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322244" y="5166360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98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3322244" y="5733288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cancer topics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095848" y="5166360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6,452</a:t>
            </a:r>
            <a:endParaRPr lang="en-US" sz="3400" dirty="0"/>
          </a:p>
        </p:txBody>
      </p:sp>
      <p:sp>
        <p:nvSpPr>
          <p:cNvPr id="18" name="Text 14"/>
          <p:cNvSpPr txBox="1"/>
          <p:nvPr/>
        </p:nvSpPr>
        <p:spPr>
          <a:xfrm>
            <a:off x="6095848" y="5733288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searchable text chunks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869451" y="5166360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Patients · carers · public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8869451" y="5733288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target users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V1: LangChain basics with no retrieval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question goes straight to the LLM. LangChain handles the prompt, the model call and a structured output (answer, key points, disclaimer), but the model answers from its own training memory.</a:t>
            </a:r>
            <a:endParaRPr lang="en-US" sz="1600" dirty="0"/>
          </a:p>
        </p:txBody>
      </p:sp>
      <p:sp>
        <p:nvSpPr>
          <p:cNvPr id="4" name="flow-step"/>
          <p:cNvSpPr/>
          <p:nvPr/>
        </p:nvSpPr>
        <p:spPr>
          <a:xfrm>
            <a:off x="548640" y="20116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20116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 question</a:t>
            </a:r>
            <a:endParaRPr lang="en-US" sz="1200" dirty="0"/>
          </a:p>
        </p:txBody>
      </p:sp>
      <p:sp>
        <p:nvSpPr>
          <p:cNvPr id="6" name="flow-arrow"/>
          <p:cNvSpPr/>
          <p:nvPr/>
        </p:nvSpPr>
        <p:spPr>
          <a:xfrm>
            <a:off x="2190445" y="24003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flow-step"/>
          <p:cNvSpPr/>
          <p:nvPr/>
        </p:nvSpPr>
        <p:spPr>
          <a:xfrm>
            <a:off x="2446477" y="20116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92197" y="20116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clean_input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(Runnable)</a:t>
            </a:r>
            <a:endParaRPr lang="en-US" sz="1200" dirty="0"/>
          </a:p>
        </p:txBody>
      </p:sp>
      <p:sp>
        <p:nvSpPr>
          <p:cNvPr id="9" name="flow-arrow"/>
          <p:cNvSpPr/>
          <p:nvPr/>
        </p:nvSpPr>
        <p:spPr>
          <a:xfrm>
            <a:off x="4088282" y="24003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flow-step"/>
          <p:cNvSpPr/>
          <p:nvPr/>
        </p:nvSpPr>
        <p:spPr>
          <a:xfrm>
            <a:off x="4344314" y="20116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90034" y="20116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ChatPrompt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Template</a:t>
            </a:r>
            <a:endParaRPr lang="en-US" sz="1200" dirty="0"/>
          </a:p>
        </p:txBody>
      </p:sp>
      <p:sp>
        <p:nvSpPr>
          <p:cNvPr id="12" name="flow-arrow"/>
          <p:cNvSpPr/>
          <p:nvPr/>
        </p:nvSpPr>
        <p:spPr>
          <a:xfrm>
            <a:off x="5986120" y="24003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flow-step"/>
          <p:cNvSpPr/>
          <p:nvPr/>
        </p:nvSpPr>
        <p:spPr>
          <a:xfrm>
            <a:off x="6242152" y="20116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87872" y="20116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ChatGroq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gpt-oss-120b</a:t>
            </a:r>
            <a:endParaRPr lang="en-US" sz="1200" dirty="0"/>
          </a:p>
        </p:txBody>
      </p:sp>
      <p:sp>
        <p:nvSpPr>
          <p:cNvPr id="15" name="flow-arrow"/>
          <p:cNvSpPr/>
          <p:nvPr/>
        </p:nvSpPr>
        <p:spPr>
          <a:xfrm>
            <a:off x="7883957" y="24003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flow-step"/>
          <p:cNvSpPr/>
          <p:nvPr/>
        </p:nvSpPr>
        <p:spPr>
          <a:xfrm>
            <a:off x="8139989" y="20116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5709" y="20116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Pydantic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parser</a:t>
            </a:r>
            <a:endParaRPr lang="en-US" sz="1200" dirty="0"/>
          </a:p>
        </p:txBody>
      </p:sp>
      <p:sp>
        <p:nvSpPr>
          <p:cNvPr id="18" name="flow-arrow"/>
          <p:cNvSpPr/>
          <p:nvPr/>
        </p:nvSpPr>
        <p:spPr>
          <a:xfrm>
            <a:off x="9781794" y="24003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flow-step"/>
          <p:cNvSpPr/>
          <p:nvPr/>
        </p:nvSpPr>
        <p:spPr>
          <a:xfrm>
            <a:off x="10037826" y="20116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83546" y="20116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HealthAnswer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108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Disadvantages</a:t>
            </a:r>
            <a:endParaRPr lang="en-US" sz="2000" dirty="0"/>
          </a:p>
        </p:txBody>
      </p:sp>
      <p:sp>
        <p:nvSpPr>
          <p:cNvPr id="22" name="card"/>
          <p:cNvSpPr/>
          <p:nvPr/>
        </p:nvSpPr>
        <p:spPr>
          <a:xfrm>
            <a:off x="548640" y="3657600"/>
            <a:ext cx="256786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23" name="icon-circle-FiCloudOff"/>
          <p:cNvSpPr/>
          <p:nvPr/>
        </p:nvSpPr>
        <p:spPr>
          <a:xfrm>
            <a:off x="822960" y="38862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con-FiCloudOf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02336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22960" y="45720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grounding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4956048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come from training memory, so facts can be outdated or invented.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3390824" y="3657600"/>
            <a:ext cx="256786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28" name="icon-circle-FiLink"/>
          <p:cNvSpPr/>
          <p:nvPr/>
        </p:nvSpPr>
        <p:spPr>
          <a:xfrm>
            <a:off x="3665144" y="38862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9" name="icon-FiLin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402336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3665144" y="45720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sources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3665144" y="4956048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Nothing to cite, so the user cannot verify an answer.</a:t>
            </a:r>
            <a:endParaRPr 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6233008" y="3657600"/>
            <a:ext cx="256786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33" name="icon-circle-FiShieldOff"/>
          <p:cNvSpPr/>
          <p:nvPr/>
        </p:nvSpPr>
        <p:spPr>
          <a:xfrm>
            <a:off x="6507328" y="38862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4" name="icon-FiShieldOff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4023360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507328" y="45720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Weak scope control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6507328" y="4956048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Answered 2 of 5 off-topic questions, including an ibuprofen dosage.</a:t>
            </a:r>
            <a:endParaRPr lang="en-US" sz="1400" dirty="0"/>
          </a:p>
        </p:txBody>
      </p:sp>
      <p:sp>
        <p:nvSpPr>
          <p:cNvPr id="37" name="card"/>
          <p:cNvSpPr/>
          <p:nvPr/>
        </p:nvSpPr>
        <p:spPr>
          <a:xfrm>
            <a:off x="9075191" y="3657600"/>
            <a:ext cx="256786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38" name="icon-circle-FiRefreshCw"/>
          <p:cNvSpPr/>
          <p:nvPr/>
        </p:nvSpPr>
        <p:spPr>
          <a:xfrm>
            <a:off x="9349511" y="38862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9" name="icon-FiRefreshC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4023360"/>
            <a:ext cx="274320" cy="27432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349511" y="45720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Cannot be updated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9349511" y="4956048"/>
            <a:ext cx="2019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NIH content would need a new model, not just a re-index.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RAG components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Retrieval-Augmented Generation looks up the most relevant NIH passages first, then lets the LLM answer only from them.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73353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INDEXING  ·  built once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066837" y="1783080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QUERY TIME  ·  every question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548640" y="2148840"/>
            <a:ext cx="1696669" cy="3931920"/>
          </a:xfrm>
          <a:prstGeom prst="roundRect">
            <a:avLst>
              <a:gd name="adj" fmla="val 6467"/>
            </a:avLst>
          </a:prstGeom>
          <a:solidFill>
            <a:schemeClr val="bg2"/>
          </a:solidFill>
          <a:ln/>
        </p:spPr>
      </p:sp>
      <p:sp>
        <p:nvSpPr>
          <p:cNvPr id="7" name="icon-circle-FiFileText"/>
          <p:cNvSpPr/>
          <p:nvPr/>
        </p:nvSpPr>
        <p:spPr>
          <a:xfrm>
            <a:off x="777240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-FiFileT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5374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42389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00400"/>
            <a:ext cx="13309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Document loader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840480"/>
            <a:ext cx="13309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MedQuADLoader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663440"/>
            <a:ext cx="13309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729 NIH Q-A pairs with URL and topic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2428189" y="2148840"/>
            <a:ext cx="1696669" cy="3931920"/>
          </a:xfrm>
          <a:prstGeom prst="roundRect">
            <a:avLst>
              <a:gd name="adj" fmla="val 6467"/>
            </a:avLst>
          </a:prstGeom>
          <a:solidFill>
            <a:schemeClr val="bg2"/>
          </a:solidFill>
          <a:ln/>
        </p:spPr>
      </p:sp>
      <p:sp>
        <p:nvSpPr>
          <p:cNvPr id="14" name="icon-circle-FiScissors"/>
          <p:cNvSpPr/>
          <p:nvPr/>
        </p:nvSpPr>
        <p:spPr>
          <a:xfrm>
            <a:off x="2656789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FiScisso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809" y="25374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21938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2656789" y="3200400"/>
            <a:ext cx="13309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Text splitter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2656789" y="3840480"/>
            <a:ext cx="13309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RecursiveCharacter TextSplitter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2656789" y="4663440"/>
            <a:ext cx="13309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500 characters, 75 overlap: 6,452 chunks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307738" y="2148840"/>
            <a:ext cx="1696669" cy="3931920"/>
          </a:xfrm>
          <a:prstGeom prst="roundRect">
            <a:avLst>
              <a:gd name="adj" fmla="val 6467"/>
            </a:avLst>
          </a:prstGeom>
          <a:solidFill>
            <a:schemeClr val="bg2"/>
          </a:solidFill>
          <a:ln/>
        </p:spPr>
      </p:sp>
      <p:sp>
        <p:nvSpPr>
          <p:cNvPr id="21" name="icon-circle-FiCpu"/>
          <p:cNvSpPr/>
          <p:nvPr/>
        </p:nvSpPr>
        <p:spPr>
          <a:xfrm>
            <a:off x="4536338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FiCpu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358" y="253746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501488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4536338" y="3200400"/>
            <a:ext cx="13309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Embeddings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4536338" y="3840480"/>
            <a:ext cx="13309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all-MiniLM-L6-v2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4536338" y="4663440"/>
            <a:ext cx="13309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chunk becomes a 384-number vector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6187288" y="2148840"/>
            <a:ext cx="1696669" cy="3931920"/>
          </a:xfrm>
          <a:prstGeom prst="roundRect">
            <a:avLst>
              <a:gd name="adj" fmla="val 6467"/>
            </a:avLst>
          </a:prstGeom>
          <a:solidFill>
            <a:schemeClr val="bg2"/>
          </a:solidFill>
          <a:ln/>
        </p:spPr>
      </p:sp>
      <p:sp>
        <p:nvSpPr>
          <p:cNvPr id="28" name="icon-circle-FiDatabase"/>
          <p:cNvSpPr/>
          <p:nvPr/>
        </p:nvSpPr>
        <p:spPr>
          <a:xfrm>
            <a:off x="6415888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-FiDataba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908" y="2537460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381037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415888" y="3200400"/>
            <a:ext cx="13309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Vector store</a:t>
            </a:r>
            <a:endParaRPr lang="en-US" sz="1700" dirty="0"/>
          </a:p>
        </p:txBody>
      </p:sp>
      <p:sp>
        <p:nvSpPr>
          <p:cNvPr id="32" name="Text 26"/>
          <p:cNvSpPr txBox="1"/>
          <p:nvPr/>
        </p:nvSpPr>
        <p:spPr>
          <a:xfrm>
            <a:off x="6415888" y="3840480"/>
            <a:ext cx="13309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FAISS (V2) / ChromaDB (V3-V4)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415888" y="4663440"/>
            <a:ext cx="13309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Cosine-similarity search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8066837" y="2148840"/>
            <a:ext cx="1696669" cy="3931920"/>
          </a:xfrm>
          <a:prstGeom prst="roundRect">
            <a:avLst>
              <a:gd name="adj" fmla="val 6467"/>
            </a:avLst>
          </a:prstGeom>
          <a:solidFill>
            <a:schemeClr val="bg2"/>
          </a:solidFill>
          <a:ln/>
        </p:spPr>
      </p:sp>
      <p:sp>
        <p:nvSpPr>
          <p:cNvPr id="35" name="icon-circle-FiSearch"/>
          <p:cNvSpPr/>
          <p:nvPr/>
        </p:nvSpPr>
        <p:spPr>
          <a:xfrm>
            <a:off x="8295437" y="23774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6" name="icon-FiSearc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457" y="2537460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260586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5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8295437" y="3200400"/>
            <a:ext cx="13309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Retriever</a:t>
            </a:r>
            <a:endParaRPr lang="en-US" sz="1700" dirty="0"/>
          </a:p>
        </p:txBody>
      </p:sp>
      <p:sp>
        <p:nvSpPr>
          <p:cNvPr id="39" name="Text 32"/>
          <p:cNvSpPr txBox="1"/>
          <p:nvPr/>
        </p:nvSpPr>
        <p:spPr>
          <a:xfrm>
            <a:off x="8295437" y="3840480"/>
            <a:ext cx="13309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ScoredRetriever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8295437" y="4663440"/>
            <a:ext cx="13309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 5 chunks; below 0.45 similarity it refuses</a:t>
            </a:r>
            <a:endParaRPr lang="en-US" sz="1400" dirty="0"/>
          </a:p>
        </p:txBody>
      </p:sp>
      <p:sp>
        <p:nvSpPr>
          <p:cNvPr id="41" name="card"/>
          <p:cNvSpPr/>
          <p:nvPr/>
        </p:nvSpPr>
        <p:spPr>
          <a:xfrm>
            <a:off x="9946386" y="2148840"/>
            <a:ext cx="1696669" cy="3931920"/>
          </a:xfrm>
          <a:prstGeom prst="roundRect">
            <a:avLst>
              <a:gd name="adj" fmla="val 6467"/>
            </a:avLst>
          </a:prstGeom>
          <a:solidFill>
            <a:schemeClr val="bg2"/>
          </a:solidFill>
          <a:ln/>
        </p:spPr>
      </p:sp>
      <p:sp>
        <p:nvSpPr>
          <p:cNvPr id="42" name="icon-circle-FiMessageSquare"/>
          <p:cNvSpPr/>
          <p:nvPr/>
        </p:nvSpPr>
        <p:spPr>
          <a:xfrm>
            <a:off x="10174986" y="23774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3" name="icon-FiMessageSquar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5006" y="2537460"/>
            <a:ext cx="320040" cy="32004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1140135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6</a:t>
            </a:r>
            <a:endParaRPr lang="en-US" sz="1800" dirty="0"/>
          </a:p>
        </p:txBody>
      </p:sp>
      <p:sp>
        <p:nvSpPr>
          <p:cNvPr id="45" name="Text 37"/>
          <p:cNvSpPr txBox="1"/>
          <p:nvPr/>
        </p:nvSpPr>
        <p:spPr>
          <a:xfrm>
            <a:off x="10174986" y="3200400"/>
            <a:ext cx="13309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Prompt + LLM</a:t>
            </a:r>
            <a:endParaRPr lang="en-US" sz="1700" dirty="0"/>
          </a:p>
        </p:txBody>
      </p:sp>
      <p:sp>
        <p:nvSpPr>
          <p:cNvPr id="46" name="Text 38"/>
          <p:cNvSpPr txBox="1"/>
          <p:nvPr/>
        </p:nvSpPr>
        <p:spPr>
          <a:xfrm>
            <a:off x="10174986" y="3840480"/>
            <a:ext cx="13309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Groq gpt-oss-120b</a:t>
            </a:r>
            <a:endParaRPr lang="en-US" sz="1300" dirty="0"/>
          </a:p>
        </p:txBody>
      </p:sp>
      <p:sp>
        <p:nvSpPr>
          <p:cNvPr id="47" name="Text 39"/>
          <p:cNvSpPr txBox="1"/>
          <p:nvPr/>
        </p:nvSpPr>
        <p:spPr>
          <a:xfrm>
            <a:off x="10174986" y="4663440"/>
            <a:ext cx="13309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only from context and cites sources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V2: basic RAG with FAISS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V2 adds retrieval. Chunks are embedded into a FAISS index; each question pulls the 5 closest NIH chunks, and the LLM answers from them with sources.</a:t>
            </a:r>
            <a:endParaRPr lang="en-US" sz="1600" dirty="0"/>
          </a:p>
        </p:txBody>
      </p:sp>
      <p:sp>
        <p:nvSpPr>
          <p:cNvPr id="4" name="flow-step"/>
          <p:cNvSpPr/>
          <p:nvPr/>
        </p:nvSpPr>
        <p:spPr>
          <a:xfrm>
            <a:off x="548640" y="1920240"/>
            <a:ext cx="1605229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920240"/>
            <a:ext cx="15137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Loader</a:t>
            </a:r>
            <a:endParaRPr lang="en-US" sz="1200" dirty="0"/>
          </a:p>
        </p:txBody>
      </p:sp>
      <p:sp>
        <p:nvSpPr>
          <p:cNvPr id="6" name="flow-arrow"/>
          <p:cNvSpPr/>
          <p:nvPr/>
        </p:nvSpPr>
        <p:spPr>
          <a:xfrm>
            <a:off x="2190445" y="226314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flow-step"/>
          <p:cNvSpPr/>
          <p:nvPr/>
        </p:nvSpPr>
        <p:spPr>
          <a:xfrm>
            <a:off x="2446477" y="1920240"/>
            <a:ext cx="1605229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92197" y="1920240"/>
            <a:ext cx="15137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Splitter</a:t>
            </a:r>
            <a:endParaRPr lang="en-US" sz="1200" dirty="0"/>
          </a:p>
        </p:txBody>
      </p:sp>
      <p:sp>
        <p:nvSpPr>
          <p:cNvPr id="9" name="flow-arrow"/>
          <p:cNvSpPr/>
          <p:nvPr/>
        </p:nvSpPr>
        <p:spPr>
          <a:xfrm>
            <a:off x="4088282" y="226314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flow-step"/>
          <p:cNvSpPr/>
          <p:nvPr/>
        </p:nvSpPr>
        <p:spPr>
          <a:xfrm>
            <a:off x="4344314" y="1920240"/>
            <a:ext cx="1605229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90034" y="1920240"/>
            <a:ext cx="15137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MiniLM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embeddings</a:t>
            </a:r>
            <a:endParaRPr lang="en-US" sz="1200" dirty="0"/>
          </a:p>
        </p:txBody>
      </p:sp>
      <p:sp>
        <p:nvSpPr>
          <p:cNvPr id="12" name="flow-arrow"/>
          <p:cNvSpPr/>
          <p:nvPr/>
        </p:nvSpPr>
        <p:spPr>
          <a:xfrm>
            <a:off x="5986120" y="226314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flow-step"/>
          <p:cNvSpPr/>
          <p:nvPr/>
        </p:nvSpPr>
        <p:spPr>
          <a:xfrm>
            <a:off x="6242152" y="1920240"/>
            <a:ext cx="1605229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87872" y="1920240"/>
            <a:ext cx="15137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FAISS index</a:t>
            </a:r>
            <a:endParaRPr lang="en-US" sz="1200" dirty="0"/>
          </a:p>
        </p:txBody>
      </p:sp>
      <p:sp>
        <p:nvSpPr>
          <p:cNvPr id="15" name="flow-arrow"/>
          <p:cNvSpPr/>
          <p:nvPr/>
        </p:nvSpPr>
        <p:spPr>
          <a:xfrm>
            <a:off x="7883957" y="226314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flow-step"/>
          <p:cNvSpPr/>
          <p:nvPr/>
        </p:nvSpPr>
        <p:spPr>
          <a:xfrm>
            <a:off x="8139989" y="1920240"/>
            <a:ext cx="1605229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5709" y="1920240"/>
            <a:ext cx="15137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Retriever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top 5</a:t>
            </a:r>
            <a:endParaRPr lang="en-US" sz="1200" dirty="0"/>
          </a:p>
        </p:txBody>
      </p:sp>
      <p:sp>
        <p:nvSpPr>
          <p:cNvPr id="18" name="flow-arrow"/>
          <p:cNvSpPr/>
          <p:nvPr/>
        </p:nvSpPr>
        <p:spPr>
          <a:xfrm>
            <a:off x="9781794" y="226314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flow-step"/>
          <p:cNvSpPr/>
          <p:nvPr/>
        </p:nvSpPr>
        <p:spPr>
          <a:xfrm>
            <a:off x="10037826" y="1920240"/>
            <a:ext cx="1605229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83546" y="1920240"/>
            <a:ext cx="15137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Prompt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LLM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V1 vs V2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6583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V1: LLM only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V2: FAISS RAG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Knowledge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Training memory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6,452 NIH chunks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Sources shown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Top 5 NIH URLs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Off-topic refused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 / 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 / 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Answer accuracy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82%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86%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Median response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1.00 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1.29 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758952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Disadvantages</a:t>
            </a:r>
            <a:endParaRPr lang="en-US" sz="2000" dirty="0"/>
          </a:p>
        </p:txBody>
      </p:sp>
      <p:sp>
        <p:nvSpPr>
          <p:cNvPr id="24" name="card"/>
          <p:cNvSpPr/>
          <p:nvPr/>
        </p:nvSpPr>
        <p:spPr>
          <a:xfrm>
            <a:off x="7589520" y="3337560"/>
            <a:ext cx="4053535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5" name="icon-circle-FiHardDrive"/>
          <p:cNvSpPr/>
          <p:nvPr/>
        </p:nvSpPr>
        <p:spPr>
          <a:xfrm>
            <a:off x="7772400" y="3538728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con-FiHardDriv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8130" y="3664458"/>
            <a:ext cx="251460" cy="25146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458200" y="3474720"/>
            <a:ext cx="3001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 library, not a database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8458200" y="3794760"/>
            <a:ext cx="3001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Vectors sit in memory and are saved as files. Metadata lives in a separate pickled docstore, so no metadata filtering.</a:t>
            </a:r>
            <a:endParaRPr lang="en-US" sz="1250" dirty="0"/>
          </a:p>
        </p:txBody>
      </p:sp>
      <p:sp>
        <p:nvSpPr>
          <p:cNvPr id="29" name="card"/>
          <p:cNvSpPr/>
          <p:nvPr/>
        </p:nvSpPr>
        <p:spPr>
          <a:xfrm>
            <a:off x="7589520" y="4754880"/>
            <a:ext cx="4053535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30" name="icon-circle-FiEdit3"/>
          <p:cNvSpPr/>
          <p:nvPr/>
        </p:nvSpPr>
        <p:spPr>
          <a:xfrm>
            <a:off x="7772400" y="4956048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1" name="icon-FiEdit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130" y="5081778"/>
            <a:ext cx="251460" cy="25146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458200" y="4892040"/>
            <a:ext cx="3001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Hard to update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8458200" y="5212080"/>
            <a:ext cx="3001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single-record update or delete. New documents mean rebuilding the index or appending in code.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V3: ChromaDB vector database with metadata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512064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4" name="icon-circle-FiDatabase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-FiDataba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08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What is a vector database?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stores each chunk as an embedding (a list of numbers that captures meaning) together with its text and metadata, and finds the nearest vectors to a question.</a:t>
            </a:r>
            <a:endParaRPr lang="en-US" sz="1400" dirty="0"/>
          </a:p>
        </p:txBody>
      </p:sp>
      <p:sp>
        <p:nvSpPr>
          <p:cNvPr id="8" name="step-dot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32004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Text chunk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"Laryngeal cancer may be treated with surgery…"</a:t>
            </a:r>
            <a:endParaRPr lang="en-US" sz="1400" dirty="0"/>
          </a:p>
        </p:txBody>
      </p:sp>
      <p:sp>
        <p:nvSpPr>
          <p:cNvPr id="11" name="step-dot"/>
          <p:cNvSpPr/>
          <p:nvPr/>
        </p:nvSpPr>
        <p:spPr>
          <a:xfrm>
            <a:off x="822960" y="395935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9136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Embedding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[0.12, -0.48, 0.07, …]  384 numbers</a:t>
            </a:r>
            <a:endParaRPr lang="en-US" sz="1400" dirty="0"/>
          </a:p>
        </p:txBody>
      </p:sp>
      <p:sp>
        <p:nvSpPr>
          <p:cNvPr id="14" name="step-dot"/>
          <p:cNvSpPr/>
          <p:nvPr/>
        </p:nvSpPr>
        <p:spPr>
          <a:xfrm>
            <a:off x="822960" y="4672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62686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Stored with metadata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source URL · doc_type · topic · page</a:t>
            </a:r>
            <a:endParaRPr lang="en-US" sz="1400" dirty="0"/>
          </a:p>
        </p:txBody>
      </p:sp>
      <p:sp>
        <p:nvSpPr>
          <p:cNvPr id="17" name="step-dot"/>
          <p:cNvSpPr/>
          <p:nvPr/>
        </p:nvSpPr>
        <p:spPr>
          <a:xfrm>
            <a:off x="822960" y="53858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53400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Search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Nearest vectors by cosine similarity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V2 (FAISS) vs V3 (ChromaDB)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83080"/>
          <a:ext cx="5608015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773936"/>
                <a:gridCol w="186537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FAISS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ChromaDB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Search library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Vector database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Storage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Memory + files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Persistent on disk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Metadata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Separate pickle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Stored with vector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Metadata filters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Yes (doc_type=…)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Add / delete one record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Hit@5 / MRR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96% / 0.820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96% / 0.820</a:t>
                      </a:r>
                      <a:endParaRPr lang="en-US" sz="12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603504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Metadata stored on every chunk</a:t>
            </a:r>
            <a:endParaRPr lang="en-US" sz="1500" dirty="0"/>
          </a:p>
        </p:txBody>
      </p:sp>
      <p:sp>
        <p:nvSpPr>
          <p:cNvPr id="23" name="chip"/>
          <p:cNvSpPr/>
          <p:nvPr/>
        </p:nvSpPr>
        <p:spPr>
          <a:xfrm>
            <a:off x="6035040" y="502920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035040" y="5029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source</a:t>
            </a:r>
            <a:endParaRPr lang="en-US" sz="1250" dirty="0"/>
          </a:p>
        </p:txBody>
      </p:sp>
      <p:sp>
        <p:nvSpPr>
          <p:cNvPr id="25" name="chip"/>
          <p:cNvSpPr/>
          <p:nvPr/>
        </p:nvSpPr>
        <p:spPr>
          <a:xfrm>
            <a:off x="7909560" y="502920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909560" y="5029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page</a:t>
            </a:r>
            <a:endParaRPr lang="en-US" sz="1250" dirty="0"/>
          </a:p>
        </p:txBody>
      </p:sp>
      <p:sp>
        <p:nvSpPr>
          <p:cNvPr id="27" name="chip"/>
          <p:cNvSpPr/>
          <p:nvPr/>
        </p:nvSpPr>
        <p:spPr>
          <a:xfrm>
            <a:off x="9784080" y="502920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784080" y="5029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doc_type</a:t>
            </a:r>
            <a:endParaRPr lang="en-US" sz="1250" dirty="0"/>
          </a:p>
        </p:txBody>
      </p:sp>
      <p:sp>
        <p:nvSpPr>
          <p:cNvPr id="29" name="chip"/>
          <p:cNvSpPr/>
          <p:nvPr/>
        </p:nvSpPr>
        <p:spPr>
          <a:xfrm>
            <a:off x="6035040" y="548640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035040" y="5486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topic</a:t>
            </a:r>
            <a:endParaRPr lang="en-US" sz="1250" dirty="0"/>
          </a:p>
        </p:txBody>
      </p:sp>
      <p:sp>
        <p:nvSpPr>
          <p:cNvPr id="31" name="chip"/>
          <p:cNvSpPr/>
          <p:nvPr/>
        </p:nvSpPr>
        <p:spPr>
          <a:xfrm>
            <a:off x="7909560" y="548640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909560" y="5486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question</a:t>
            </a:r>
            <a:endParaRPr lang="en-US" sz="1250" dirty="0"/>
          </a:p>
        </p:txBody>
      </p:sp>
      <p:sp>
        <p:nvSpPr>
          <p:cNvPr id="33" name="chip"/>
          <p:cNvSpPr/>
          <p:nvPr/>
        </p:nvSpPr>
        <p:spPr>
          <a:xfrm>
            <a:off x="9784080" y="5486400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784080" y="5486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qid</a:t>
            </a:r>
            <a:endParaRPr lang="en-US" sz="1250" dirty="0"/>
          </a:p>
        </p:txBody>
      </p:sp>
      <p:sp>
        <p:nvSpPr>
          <p:cNvPr id="35" name="Text 31"/>
          <p:cNvSpPr txBox="1"/>
          <p:nvPr/>
        </p:nvSpPr>
        <p:spPr>
          <a:xfrm>
            <a:off x="6035040" y="5989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Same search quality as FAISS. Chroma's gain is managing the data, not speed.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V4: advanced RAG with cross-encoder reranking</a:t>
            </a:r>
            <a:endParaRPr lang="en-US" sz="3200" dirty="0"/>
          </a:p>
        </p:txBody>
      </p:sp>
      <p:sp>
        <p:nvSpPr>
          <p:cNvPr id="3" name="flow-step"/>
          <p:cNvSpPr/>
          <p:nvPr/>
        </p:nvSpPr>
        <p:spPr>
          <a:xfrm>
            <a:off x="548640" y="13258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 question</a:t>
            </a:r>
            <a:endParaRPr lang="en-US" sz="1200" dirty="0"/>
          </a:p>
        </p:txBody>
      </p:sp>
      <p:sp>
        <p:nvSpPr>
          <p:cNvPr id="5" name="flow-arrow"/>
          <p:cNvSpPr/>
          <p:nvPr/>
        </p:nvSpPr>
        <p:spPr>
          <a:xfrm>
            <a:off x="2190445" y="17145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flow-step"/>
          <p:cNvSpPr/>
          <p:nvPr/>
        </p:nvSpPr>
        <p:spPr>
          <a:xfrm>
            <a:off x="2446477" y="13258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92197" y="13258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ChromaDB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top 20</a:t>
            </a:r>
            <a:endParaRPr lang="en-US" sz="1200" dirty="0"/>
          </a:p>
        </p:txBody>
      </p:sp>
      <p:sp>
        <p:nvSpPr>
          <p:cNvPr id="8" name="flow-arrow"/>
          <p:cNvSpPr/>
          <p:nvPr/>
        </p:nvSpPr>
        <p:spPr>
          <a:xfrm>
            <a:off x="4088282" y="17145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flow-step"/>
          <p:cNvSpPr/>
          <p:nvPr/>
        </p:nvSpPr>
        <p:spPr>
          <a:xfrm>
            <a:off x="4344314" y="13258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90034" y="13258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Cross-encoder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reranker</a:t>
            </a:r>
            <a:endParaRPr lang="en-US" sz="1200" dirty="0"/>
          </a:p>
        </p:txBody>
      </p:sp>
      <p:sp>
        <p:nvSpPr>
          <p:cNvPr id="11" name="flow-arrow"/>
          <p:cNvSpPr/>
          <p:nvPr/>
        </p:nvSpPr>
        <p:spPr>
          <a:xfrm>
            <a:off x="5986120" y="17145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flow-step"/>
          <p:cNvSpPr/>
          <p:nvPr/>
        </p:nvSpPr>
        <p:spPr>
          <a:xfrm>
            <a:off x="6242152" y="13258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87872" y="13258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Best 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chunks</a:t>
            </a:r>
            <a:endParaRPr lang="en-US" sz="1200" dirty="0"/>
          </a:p>
        </p:txBody>
      </p:sp>
      <p:sp>
        <p:nvSpPr>
          <p:cNvPr id="14" name="flow-arrow"/>
          <p:cNvSpPr/>
          <p:nvPr/>
        </p:nvSpPr>
        <p:spPr>
          <a:xfrm>
            <a:off x="7883957" y="17145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flow-step"/>
          <p:cNvSpPr/>
          <p:nvPr/>
        </p:nvSpPr>
        <p:spPr>
          <a:xfrm>
            <a:off x="8139989" y="13258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5709" y="13258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Prompt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LLM</a:t>
            </a:r>
            <a:endParaRPr lang="en-US" sz="1200" dirty="0"/>
          </a:p>
        </p:txBody>
      </p:sp>
      <p:sp>
        <p:nvSpPr>
          <p:cNvPr id="17" name="flow-arrow"/>
          <p:cNvSpPr/>
          <p:nvPr/>
        </p:nvSpPr>
        <p:spPr>
          <a:xfrm>
            <a:off x="9781794" y="1714500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flow-step"/>
          <p:cNvSpPr/>
          <p:nvPr/>
        </p:nvSpPr>
        <p:spPr>
          <a:xfrm>
            <a:off x="10037826" y="1325880"/>
            <a:ext cx="1605229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83546" y="1325880"/>
            <a:ext cx="15137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Answer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sources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548640" y="2423160"/>
            <a:ext cx="60350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1" name="icon-circle-FiLayers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con-FiLay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60020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Bi-encoder (stage 1)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304495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question and each chunk are embedded separately, so the search only compares two summaries. Fast enough for all 6,452 chunks.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548640" y="4297680"/>
            <a:ext cx="603504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6" name="icon-circle-FiTarget"/>
          <p:cNvSpPr/>
          <p:nvPr/>
        </p:nvSpPr>
        <p:spPr>
          <a:xfrm>
            <a:off x="822960" y="45720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icon-FiTarg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70916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60020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Cross-encoder (stage 2)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1600200" y="491947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ms-marco-MiniLM-L-6-v2 reads the question and the chunk together and scores how well that chunk answers it. Too slow for everything, so it only reorders the top 20.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94944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counts as advanced RAG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6949440" y="2880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0.919 → 0.988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9144000" y="2880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MRR on the 40-question dev set: the best chunk moves to the top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6949440" y="36850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53% → 56%</a:t>
            </a:r>
            <a:endParaRPr lang="en-US" sz="2400" dirty="0"/>
          </a:p>
        </p:txBody>
      </p:sp>
      <p:sp>
        <p:nvSpPr>
          <p:cNvPr id="34" name="Text 30"/>
          <p:cNvSpPr txBox="1"/>
          <p:nvPr/>
        </p:nvSpPr>
        <p:spPr>
          <a:xfrm>
            <a:off x="9144000" y="36850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precision@5 on the test set: more relevant chunks in context</a:t>
            </a:r>
            <a:endParaRPr lang="en-US" sz="1250" dirty="0"/>
          </a:p>
        </p:txBody>
      </p:sp>
      <p:sp>
        <p:nvSpPr>
          <p:cNvPr id="35" name="Text 31"/>
          <p:cNvSpPr txBox="1"/>
          <p:nvPr/>
        </p:nvSpPr>
        <p:spPr>
          <a:xfrm>
            <a:off x="6949440" y="448970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</a:t>
            </a:r>
            <a:endParaRPr lang="en-US" sz="2400" dirty="0"/>
          </a:p>
        </p:txBody>
      </p:sp>
      <p:sp>
        <p:nvSpPr>
          <p:cNvPr id="36" name="Text 32"/>
          <p:cNvSpPr txBox="1"/>
          <p:nvPr/>
        </p:nvSpPr>
        <p:spPr>
          <a:xfrm>
            <a:off x="9144000" y="448970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wrong answers (V2 and V3 had 1)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6949440" y="529437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~57 ms</a:t>
            </a:r>
            <a:endParaRPr lang="en-US" sz="2400" dirty="0"/>
          </a:p>
        </p:txBody>
      </p:sp>
      <p:sp>
        <p:nvSpPr>
          <p:cNvPr id="38" name="Text 34"/>
          <p:cNvSpPr txBox="1"/>
          <p:nvPr/>
        </p:nvSpPr>
        <p:spPr>
          <a:xfrm>
            <a:off x="9144000" y="529437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extra time for reranking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V4: metadata, guardrails and grounded answers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788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icon-circle-FiGitMerge"/>
          <p:cNvSpPr/>
          <p:nvPr/>
        </p:nvSpPr>
        <p:spPr>
          <a:xfrm>
            <a:off x="749808" y="1481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iGitMer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59562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Two-stage retrieval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0574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Retrieve 20, rerank, keep the best 5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3520440" y="1280160"/>
            <a:ext cx="2788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icon-circle-FiTag"/>
          <p:cNvSpPr/>
          <p:nvPr/>
        </p:nvSpPr>
        <p:spPr>
          <a:xfrm>
            <a:off x="3721608" y="1481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FiTa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159562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9768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Metadata on every chunk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3721608" y="20574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Source URL, doc_type, topic and page drive the citation cards</a:t>
            </a:r>
            <a:endParaRPr lang="en-US" sz="1250" dirty="0"/>
          </a:p>
        </p:txBody>
      </p:sp>
      <p:sp>
        <p:nvSpPr>
          <p:cNvPr id="13" name="card"/>
          <p:cNvSpPr/>
          <p:nvPr/>
        </p:nvSpPr>
        <p:spPr>
          <a:xfrm>
            <a:off x="548640" y="2926080"/>
            <a:ext cx="2788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icon-circle-FiFilter"/>
          <p:cNvSpPr/>
          <p:nvPr/>
        </p:nvSpPr>
        <p:spPr>
          <a:xfrm>
            <a:off x="749808" y="3127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FiFilt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324154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3108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Metadata filtering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749808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Chroma can filter by field, e.g. doc_type = "treatment"</a:t>
            </a:r>
            <a:endParaRPr lang="en-US" sz="1250" dirty="0"/>
          </a:p>
        </p:txBody>
      </p:sp>
      <p:sp>
        <p:nvSpPr>
          <p:cNvPr id="18" name="card"/>
          <p:cNvSpPr/>
          <p:nvPr/>
        </p:nvSpPr>
        <p:spPr>
          <a:xfrm>
            <a:off x="3520440" y="2926080"/>
            <a:ext cx="2788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icon-circle-FiShield"/>
          <p:cNvSpPr/>
          <p:nvPr/>
        </p:nvSpPr>
        <p:spPr>
          <a:xfrm>
            <a:off x="3721608" y="3127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Fi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324154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297680" y="3108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Relevance guardrail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3721608" y="3703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Below 0.45 cosine similarity the bot gives a safe refusal</a:t>
            </a:r>
            <a:endParaRPr lang="en-US" sz="1250" dirty="0"/>
          </a:p>
        </p:txBody>
      </p:sp>
      <p:sp>
        <p:nvSpPr>
          <p:cNvPr id="23" name="card"/>
          <p:cNvSpPr/>
          <p:nvPr/>
        </p:nvSpPr>
        <p:spPr>
          <a:xfrm>
            <a:off x="548640" y="4572000"/>
            <a:ext cx="2788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4" name="icon-circle-FiBookOpen"/>
          <p:cNvSpPr/>
          <p:nvPr/>
        </p:nvSpPr>
        <p:spPr>
          <a:xfrm>
            <a:off x="749808" y="47731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FiBookOpe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887468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4754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Grounded prompt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749808" y="5349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Answer only from context, cite each claim, add a disclaimer</a:t>
            </a:r>
            <a:endParaRPr lang="en-US" sz="1250" dirty="0"/>
          </a:p>
        </p:txBody>
      </p:sp>
      <p:sp>
        <p:nvSpPr>
          <p:cNvPr id="28" name="card"/>
          <p:cNvSpPr/>
          <p:nvPr/>
        </p:nvSpPr>
        <p:spPr>
          <a:xfrm>
            <a:off x="3520440" y="4572000"/>
            <a:ext cx="2788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9" name="icon-circle-FiActivity"/>
          <p:cNvSpPr/>
          <p:nvPr/>
        </p:nvSpPr>
        <p:spPr>
          <a:xfrm>
            <a:off x="3721608" y="47731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FiActivity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5908" y="4887468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297680" y="4754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Quality on every answer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3721608" y="5349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RAGAS faithfulness, relevance and hallucination scores</a:t>
            </a:r>
            <a:endParaRPr lang="en-US" sz="1250" dirty="0"/>
          </a:p>
        </p:txBody>
      </p:sp>
      <p:sp>
        <p:nvSpPr>
          <p:cNvPr id="33" name="screenshot-frame"/>
          <p:cNvSpPr/>
          <p:nvPr/>
        </p:nvSpPr>
        <p:spPr>
          <a:xfrm>
            <a:off x="6510528" y="1298448"/>
            <a:ext cx="5205679" cy="3167875"/>
          </a:xfrm>
          <a:prstGeom prst="roundRect">
            <a:avLst>
              <a:gd name="adj" fmla="val 288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4F75">
                <a:alpha val="12000"/>
              </a:srgbClr>
            </a:outerShdw>
          </a:effectLst>
        </p:spPr>
      </p:sp>
      <p:pic>
        <p:nvPicPr>
          <p:cNvPr id="34" name="screenshot-monitoring.png" descr="/Users/kevincostner/Desktop/Health_FAQ_Rag/docs/presentation/screenshots/monitor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1371600"/>
            <a:ext cx="5059375" cy="3021571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583680" y="4576051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Live V4 answer: RAGAS scores, then 5 reranked NIH sources with topic, doc_type, page and URL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Deployment: how the app runs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874520"/>
            <a:ext cx="2514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4F75">
                <a:alpha val="12000"/>
              </a:srgbClr>
            </a:outerShdw>
          </a:effectLst>
        </p:spPr>
      </p:sp>
      <p:sp>
        <p:nvSpPr>
          <p:cNvPr id="4" name="icon-circle-FiMonitor"/>
          <p:cNvSpPr/>
          <p:nvPr/>
        </p:nvSpPr>
        <p:spPr>
          <a:xfrm>
            <a:off x="731520" y="20802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-FiMonito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2059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74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React UI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Vite · localhost:5173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429000" y="187452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4F75">
                <a:alpha val="12000"/>
              </a:srgbClr>
            </a:outerShdw>
          </a:effectLst>
        </p:spPr>
      </p:sp>
      <p:sp>
        <p:nvSpPr>
          <p:cNvPr id="8" name="icon-circle-FiServer"/>
          <p:cNvSpPr/>
          <p:nvPr/>
        </p:nvSpPr>
        <p:spPr>
          <a:xfrm>
            <a:off x="3611880" y="20802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con-FiServ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220599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51960" y="18745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FastAPI backend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/api/chat · /api/history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400800" y="187452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4F75">
                <a:alpha val="12000"/>
              </a:srgbClr>
            </a:outerShdw>
          </a:effectLst>
        </p:spPr>
      </p:sp>
      <p:sp>
        <p:nvSpPr>
          <p:cNvPr id="12" name="icon-circle-FiZap"/>
          <p:cNvSpPr/>
          <p:nvPr/>
        </p:nvSpPr>
        <p:spPr>
          <a:xfrm>
            <a:off x="6583680" y="20802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FiZa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10" y="220599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23760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V4 RAG chain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LangChain LCEL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9098280" y="1234440"/>
            <a:ext cx="254203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4F75">
                <a:alpha val="12000"/>
              </a:srgbClr>
            </a:outerShdw>
          </a:effectLst>
        </p:spPr>
      </p:sp>
      <p:sp>
        <p:nvSpPr>
          <p:cNvPr id="16" name="icon-circle-FiDatabase"/>
          <p:cNvSpPr/>
          <p:nvPr/>
        </p:nvSpPr>
        <p:spPr>
          <a:xfrm>
            <a:off x="9281160" y="13487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FiDataba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6890" y="147447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21240" y="123444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ChromaDB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chroma_lc on disk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9098280" y="2057400"/>
            <a:ext cx="254203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4F75">
                <a:alpha val="12000"/>
              </a:srgbClr>
            </a:outerShdw>
          </a:effectLst>
        </p:spPr>
      </p:sp>
      <p:sp>
        <p:nvSpPr>
          <p:cNvPr id="20" name="icon-circle-FiCpu"/>
          <p:cNvSpPr/>
          <p:nvPr/>
        </p:nvSpPr>
        <p:spPr>
          <a:xfrm>
            <a:off x="9281160" y="21717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-FiCpu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6890" y="229743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21240" y="20574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Cross-encoder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runs locally on CPU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9098280" y="2971800"/>
            <a:ext cx="254203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4F75">
                <a:alpha val="12000"/>
              </a:srgbClr>
            </a:outerShdw>
          </a:effectLst>
        </p:spPr>
      </p:sp>
      <p:sp>
        <p:nvSpPr>
          <p:cNvPr id="24" name="icon-circle-FiCloud"/>
          <p:cNvSpPr/>
          <p:nvPr/>
        </p:nvSpPr>
        <p:spPr>
          <a:xfrm>
            <a:off x="9281160" y="30861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con-FiClou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6890" y="321183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921240" y="29718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Groq API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gpt-oss-120b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3429000" y="3291840"/>
            <a:ext cx="26060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B4F75">
                <a:alpha val="12000"/>
              </a:srgbClr>
            </a:outerShdw>
          </a:effectLst>
        </p:spPr>
      </p:sp>
      <p:sp>
        <p:nvSpPr>
          <p:cNvPr id="28" name="icon-circle-FiArchive"/>
          <p:cNvSpPr/>
          <p:nvPr/>
        </p:nvSpPr>
        <p:spPr>
          <a:xfrm>
            <a:off x="3611880" y="34290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9" name="icon-FiArchiv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7610" y="3554730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251960" y="3291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SQLite history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data/chat_history.db</a:t>
            </a:r>
            <a:endParaRPr lang="en-US" sz="1400" dirty="0"/>
          </a:p>
        </p:txBody>
      </p:sp>
      <p:sp>
        <p:nvSpPr>
          <p:cNvPr id="31" name="arch-arrow"/>
          <p:cNvSpPr/>
          <p:nvPr/>
        </p:nvSpPr>
        <p:spPr>
          <a:xfrm>
            <a:off x="3063240" y="2331720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arch-arrow"/>
          <p:cNvSpPr/>
          <p:nvPr/>
        </p:nvSpPr>
        <p:spPr>
          <a:xfrm>
            <a:off x="6035040" y="2331720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arch-arrow"/>
          <p:cNvSpPr/>
          <p:nvPr/>
        </p:nvSpPr>
        <p:spPr>
          <a:xfrm>
            <a:off x="8686800" y="1600200"/>
            <a:ext cx="411480" cy="7315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arch-arrow"/>
          <p:cNvSpPr/>
          <p:nvPr/>
        </p:nvSpPr>
        <p:spPr>
          <a:xfrm>
            <a:off x="8686800" y="2331720"/>
            <a:ext cx="411480" cy="914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arch-arrow"/>
          <p:cNvSpPr/>
          <p:nvPr/>
        </p:nvSpPr>
        <p:spPr>
          <a:xfrm>
            <a:off x="8686800" y="2331720"/>
            <a:ext cx="411480" cy="10058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arch-arrow"/>
          <p:cNvSpPr/>
          <p:nvPr/>
        </p:nvSpPr>
        <p:spPr>
          <a:xfrm>
            <a:off x="4732020" y="2788920"/>
            <a:ext cx="0" cy="5029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7" name="Text 28"/>
          <p:cNvSpPr txBox="1"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Run it in three commands</a:t>
            </a:r>
            <a:endParaRPr lang="en-US" sz="1800" dirty="0"/>
          </a:p>
        </p:txBody>
      </p:sp>
      <p:sp>
        <p:nvSpPr>
          <p:cNvPr id="38" name="card"/>
          <p:cNvSpPr/>
          <p:nvPr/>
        </p:nvSpPr>
        <p:spPr>
          <a:xfrm>
            <a:off x="548640" y="4846320"/>
            <a:ext cx="26364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731520" y="49560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40" name="Text 31"/>
          <p:cNvSpPr txBox="1"/>
          <p:nvPr/>
        </p:nvSpPr>
        <p:spPr>
          <a:xfrm>
            <a:off x="1143000" y="4956048"/>
            <a:ext cx="19049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 setup</a:t>
            </a:r>
            <a:endParaRPr lang="en-US" sz="1400" dirty="0"/>
          </a:p>
        </p:txBody>
      </p:sp>
      <p:sp>
        <p:nvSpPr>
          <p:cNvPr id="41" name="Text 32"/>
          <p:cNvSpPr txBox="1"/>
          <p:nvPr/>
        </p:nvSpPr>
        <p:spPr>
          <a:xfrm>
            <a:off x="731520" y="5413248"/>
            <a:ext cx="22706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Creates .venv, installs packages, builds the Chroma index and test sets</a:t>
            </a:r>
            <a:endParaRPr lang="en-US" sz="1250" dirty="0"/>
          </a:p>
        </p:txBody>
      </p:sp>
      <p:sp>
        <p:nvSpPr>
          <p:cNvPr id="42" name="card"/>
          <p:cNvSpPr/>
          <p:nvPr/>
        </p:nvSpPr>
        <p:spPr>
          <a:xfrm>
            <a:off x="3367964" y="4846320"/>
            <a:ext cx="26364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3550844" y="49560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44" name="Text 35"/>
          <p:cNvSpPr txBox="1"/>
          <p:nvPr/>
        </p:nvSpPr>
        <p:spPr>
          <a:xfrm>
            <a:off x="3962324" y="4956048"/>
            <a:ext cx="19049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 api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3550844" y="5413248"/>
            <a:ext cx="22706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Starts FastAPI with uvicorn on port 8000</a:t>
            </a:r>
            <a:endParaRPr lang="en-US" sz="1250" dirty="0"/>
          </a:p>
        </p:txBody>
      </p:sp>
      <p:sp>
        <p:nvSpPr>
          <p:cNvPr id="46" name="card"/>
          <p:cNvSpPr/>
          <p:nvPr/>
        </p:nvSpPr>
        <p:spPr>
          <a:xfrm>
            <a:off x="6187288" y="4846320"/>
            <a:ext cx="26364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6370168" y="49560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48" name="Text 39"/>
          <p:cNvSpPr txBox="1"/>
          <p:nvPr/>
        </p:nvSpPr>
        <p:spPr>
          <a:xfrm>
            <a:off x="6781648" y="4956048"/>
            <a:ext cx="19049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 web</a:t>
            </a:r>
            <a:endParaRPr lang="en-US" sz="1400" dirty="0"/>
          </a:p>
        </p:txBody>
      </p:sp>
      <p:sp>
        <p:nvSpPr>
          <p:cNvPr id="49" name="Text 40"/>
          <p:cNvSpPr txBox="1"/>
          <p:nvPr/>
        </p:nvSpPr>
        <p:spPr>
          <a:xfrm>
            <a:off x="6370168" y="5413248"/>
            <a:ext cx="22706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Starts the React app; /api calls go to the backend</a:t>
            </a:r>
            <a:endParaRPr lang="en-US" sz="1250" dirty="0"/>
          </a:p>
        </p:txBody>
      </p:sp>
      <p:sp>
        <p:nvSpPr>
          <p:cNvPr id="50" name="card"/>
          <p:cNvSpPr/>
          <p:nvPr/>
        </p:nvSpPr>
        <p:spPr>
          <a:xfrm>
            <a:off x="9006611" y="4846320"/>
            <a:ext cx="263644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9189491" y="49560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+</a:t>
            </a:r>
            <a:endParaRPr lang="en-US" sz="2200" dirty="0"/>
          </a:p>
        </p:txBody>
      </p:sp>
      <p:sp>
        <p:nvSpPr>
          <p:cNvPr id="52" name="Text 43"/>
          <p:cNvSpPr txBox="1"/>
          <p:nvPr/>
        </p:nvSpPr>
        <p:spPr>
          <a:xfrm>
            <a:off x="9600971" y="4956048"/>
            <a:ext cx="19049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1400" dirty="0"/>
          </a:p>
        </p:txBody>
      </p:sp>
      <p:sp>
        <p:nvSpPr>
          <p:cNvPr id="53" name="Text 44"/>
          <p:cNvSpPr txBox="1"/>
          <p:nvPr/>
        </p:nvSpPr>
        <p:spPr>
          <a:xfrm>
            <a:off x="9189491" y="5413248"/>
            <a:ext cx="22706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GROQ_API_KEY in .env (never committed). Streamlit demo: run.py streamlit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Monitoring</a:t>
            </a:r>
            <a:endParaRPr lang="en-US" sz="3200" dirty="0"/>
          </a:p>
        </p:txBody>
      </p:sp>
      <p:sp>
        <p:nvSpPr>
          <p:cNvPr id="3" name="screenshot-frame"/>
          <p:cNvSpPr/>
          <p:nvPr/>
        </p:nvSpPr>
        <p:spPr>
          <a:xfrm>
            <a:off x="548640" y="1298448"/>
            <a:ext cx="5724144" cy="3477514"/>
          </a:xfrm>
          <a:prstGeom prst="roundRect">
            <a:avLst>
              <a:gd name="adj" fmla="val 262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B4F75">
                <a:alpha val="12000"/>
              </a:srgbClr>
            </a:outerShdw>
          </a:effectLst>
        </p:spPr>
      </p:sp>
      <p:pic>
        <p:nvPicPr>
          <p:cNvPr id="4" name="screenshot-refusal.png" descr="/Users/kevincostner/Desktop/Health_FAQ_Rag/docs/presentation/screenshots/refus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5577840" cy="33312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8569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Every answer, including refusals, is scored and saved to the Recent Chats history</a:t>
            </a:r>
            <a:endParaRPr lang="en-US" sz="1200" dirty="0"/>
          </a:p>
        </p:txBody>
      </p:sp>
      <p:sp>
        <p:nvSpPr>
          <p:cNvPr id="6" name="icon-circle-FiActivity"/>
          <p:cNvSpPr/>
          <p:nvPr/>
        </p:nvSpPr>
        <p:spPr>
          <a:xfrm>
            <a:off x="667512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FiActivity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630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06640" y="1280160"/>
            <a:ext cx="4236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RAGAS on every answer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406640" y="1645920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Faithfulness, relevance and hallucination (1 − faithfulness) shown under each reply. Falls back to word overlap if Groq rate-limits.</a:t>
            </a:r>
            <a:endParaRPr lang="en-US" sz="1300" dirty="0"/>
          </a:p>
        </p:txBody>
      </p:sp>
      <p:sp>
        <p:nvSpPr>
          <p:cNvPr id="10" name="icon-circle-FiArchive"/>
          <p:cNvSpPr/>
          <p:nvPr/>
        </p:nvSpPr>
        <p:spPr>
          <a:xfrm>
            <a:off x="6675120" y="25420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FiArchiv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6791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06640" y="2496312"/>
            <a:ext cx="4236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Chat history in SQLite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7406640" y="2862072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Question, answer, sources and scores saved; served by /api/history.</a:t>
            </a:r>
            <a:endParaRPr lang="en-US" sz="1300" dirty="0"/>
          </a:p>
        </p:txBody>
      </p:sp>
      <p:sp>
        <p:nvSpPr>
          <p:cNvPr id="14" name="icon-circle-FiEye"/>
          <p:cNvSpPr/>
          <p:nvPr/>
        </p:nvSpPr>
        <p:spPr>
          <a:xfrm>
            <a:off x="6675120" y="375818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FiEy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89534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406640" y="3712464"/>
            <a:ext cx="4236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LangSmith tracing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7406640" y="4078224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 LANGSMITH_TRACING on, each run logs retriever, reranker, prompt, LLM, tokens and latency.</a:t>
            </a:r>
            <a:endParaRPr lang="en-US" sz="1300" dirty="0"/>
          </a:p>
        </p:txBody>
      </p:sp>
      <p:sp>
        <p:nvSpPr>
          <p:cNvPr id="18" name="icon-circle-FiClock"/>
          <p:cNvSpPr/>
          <p:nvPr/>
        </p:nvSpPr>
        <p:spPr>
          <a:xfrm>
            <a:off x="6675120" y="497433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FiClo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111496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406640" y="4928616"/>
            <a:ext cx="4236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Stage timings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7406640" y="5294376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Median: retrieval ~61 ms, rerank ~57 ms, LLM ~1.3 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Evaluation metrics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27 test questions: 22 cancer questions phrased the way users ask, each linked to its NIH answer, plus 5 off-topic questions.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5623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Retrieval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Hit@5: right chunk in the top 5. MRR: how high it ranks. Precision@5: share of relevant chunks.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2862072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935224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Answer quality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LLM judge grades correct / partial / wrong against the NIH answer; BERTScore F1 for meaning overlap.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3941064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01421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Safety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Off-topic questions correctly refused; in-scope questions wrongly refused.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5020056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509320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Live (RAGAS)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Faithfulness, answer relevance, hallucination = 1 − faithfulness.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783080"/>
          <a:ext cx="6613855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1234440"/>
                <a:gridCol w="123444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V2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V3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V4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Hit@5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96%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96%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96%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MRR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0.820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0.820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0.744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Precision@5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53%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53%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56%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Answer accuracy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82%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86%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86%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84%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Wrong answers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BERTScore F1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0.816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0.825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0.827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0.829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Off-topic refused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3/5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5/5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5/5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5/5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Median response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1.00 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1.29 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1.25 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1.41 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Real-time work and future scope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/>
        </p:spPr>
      </p:sp>
      <p:sp>
        <p:nvSpPr>
          <p:cNvPr id="4" name="icon-circle-FiPlayCircle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-FiPlayCirc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08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Working today</a:t>
            </a:r>
            <a:endParaRPr lang="en-US" sz="2000" dirty="0"/>
          </a:p>
        </p:txBody>
      </p:sp>
      <p:pic>
        <p:nvPicPr>
          <p:cNvPr id="7" name="screenshot-output" descr="/Users/kevincostner/Desktop/Health_FAQ_Rag/docs/presentation/screenshots/outp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4846320" cy="28943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527177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Live web app answers in ~1.4 s with 5 NIH citations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Safe refusal for off-topic questions; RAGAS scores and history on every chat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492240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0" name="icon-circle-FiShuffle"/>
          <p:cNvSpPr/>
          <p:nvPr/>
        </p:nvSpPr>
        <p:spPr>
          <a:xfrm>
            <a:off x="6492240" y="18745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FiShuff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99339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32320" y="1828800"/>
            <a:ext cx="4510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Hybrid search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 keyword (BM25) and vector search</a:t>
            </a:r>
            <a:endParaRPr lang="en-US" sz="1400" dirty="0"/>
          </a:p>
        </p:txBody>
      </p:sp>
      <p:sp>
        <p:nvSpPr>
          <p:cNvPr id="13" name="icon-circle-FiFilter"/>
          <p:cNvSpPr/>
          <p:nvPr/>
        </p:nvSpPr>
        <p:spPr>
          <a:xfrm>
            <a:off x="6492240" y="259689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FiFilt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7157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132320" y="2551176"/>
            <a:ext cx="4510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Intent-based filters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Detect "treatment" or "symptoms" and filter by doc_type</a:t>
            </a:r>
            <a:endParaRPr lang="en-US" sz="1400" dirty="0"/>
          </a:p>
        </p:txBody>
      </p:sp>
      <p:sp>
        <p:nvSpPr>
          <p:cNvPr id="16" name="icon-circle-FiCloud"/>
          <p:cNvSpPr/>
          <p:nvPr/>
        </p:nvSpPr>
        <p:spPr>
          <a:xfrm>
            <a:off x="6492240" y="331927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FiClou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438144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132320" y="3273552"/>
            <a:ext cx="4510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Cloud deployment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Docker, managed hosting, HTTPS and login</a:t>
            </a:r>
            <a:endParaRPr lang="en-US" sz="1400" dirty="0"/>
          </a:p>
        </p:txBody>
      </p:sp>
      <p:sp>
        <p:nvSpPr>
          <p:cNvPr id="19" name="icon-circle-FiGlobe"/>
          <p:cNvSpPr/>
          <p:nvPr/>
        </p:nvSpPr>
        <p:spPr>
          <a:xfrm>
            <a:off x="6492240" y="404164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FiGlob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4160520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32320" y="3995928"/>
            <a:ext cx="4510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Wider knowledge base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of MedQuAD beyond cancer, more languages</a:t>
            </a:r>
            <a:endParaRPr lang="en-US" sz="1400" dirty="0"/>
          </a:p>
        </p:txBody>
      </p:sp>
      <p:sp>
        <p:nvSpPr>
          <p:cNvPr id="22" name="icon-circle-FiMessageCircle"/>
          <p:cNvSpPr/>
          <p:nvPr/>
        </p:nvSpPr>
        <p:spPr>
          <a:xfrm>
            <a:off x="6492240" y="476402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FiMessageCircl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4882896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132320" y="4718304"/>
            <a:ext cx="4510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Follow-up questions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Conversation memory across turns</a:t>
            </a:r>
            <a:endParaRPr lang="en-US" sz="1400" dirty="0"/>
          </a:p>
        </p:txBody>
      </p:sp>
      <p:sp>
        <p:nvSpPr>
          <p:cNvPr id="25" name="icon-circle-FiThumbsUp"/>
          <p:cNvSpPr/>
          <p:nvPr/>
        </p:nvSpPr>
        <p:spPr>
          <a:xfrm>
            <a:off x="6492240" y="548640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FiThumbsUp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5605272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32320" y="5440680"/>
            <a:ext cx="4510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Feedback loop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ratings and a larger test 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 FAQ RAG">
  <a:themeElements>
    <a:clrScheme name="Health FAQ RAG">
      <a:dk1>
        <a:srgbClr val="1B2733"/>
      </a:dk1>
      <a:lt1>
        <a:srgbClr val="FFFFFF"/>
      </a:lt1>
      <a:dk2>
        <a:srgbClr val="0B4F75"/>
      </a:dk2>
      <a:lt2>
        <a:srgbClr val="EEF5F8"/>
      </a:lt2>
      <a:accent1>
        <a:srgbClr val="0E8FA8"/>
      </a:accent1>
      <a:accent2>
        <a:srgbClr val="14B8A6"/>
      </a:accent2>
      <a:accent3>
        <a:srgbClr val="E39B17"/>
      </a:accent3>
      <a:accent4>
        <a:srgbClr val="D9534F"/>
      </a:accent4>
      <a:accent5>
        <a:srgbClr val="5B6B7A"/>
      </a:accent5>
      <a:accent6>
        <a:srgbClr val="CFE6EE"/>
      </a:accent6>
      <a:hlink>
        <a:srgbClr val="0E8FA8"/>
      </a:hlink>
      <a:folHlink>
        <a:srgbClr val="5B6B7A"/>
      </a:folHlink>
    </a:clrScheme>
    <a:fontScheme name="Health FAQ RA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FAQ RAG Chatbot</dc:title>
  <dc:subject>PptxGenJS Presentation</dc:subject>
  <dc:creator>Kevin Costner</dc:creator>
  <cp:lastModifiedBy>Kevin Costner</cp:lastModifiedBy>
  <cp:revision>1</cp:revision>
  <dcterms:created xsi:type="dcterms:W3CDTF">2026-10-09T11:02:58Z</dcterms:created>
  <dcterms:modified xsi:type="dcterms:W3CDTF">2026-10-09T11:02:58Z</dcterms:modified>
</cp:coreProperties>
</file>